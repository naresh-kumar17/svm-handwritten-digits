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Calibri"/>
              </a:rPr>
              <a:t>Images per digit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 per digit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F4F5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</c:v>
                </c:pt>
                <c:pt idx="1">
                  <c:v>182</c:v>
                </c:pt>
                <c:pt idx="2">
                  <c:v>177</c:v>
                </c:pt>
                <c:pt idx="3">
                  <c:v>183</c:v>
                </c:pt>
                <c:pt idx="4">
                  <c:v>181</c:v>
                </c:pt>
                <c:pt idx="5">
                  <c:v>182</c:v>
                </c:pt>
                <c:pt idx="6">
                  <c:v>181</c:v>
                </c:pt>
                <c:pt idx="7">
                  <c:v>179</c:v>
                </c:pt>
                <c:pt idx="8">
                  <c:v>174</c:v>
                </c:pt>
                <c:pt idx="9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A-41D5-B49F-FF77357D3F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6350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Calibri"/>
              </a:rPr>
              <a:t>RBF SVM 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RBF SVM test accuracy (%)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FA-4EB1-AC27-268D383D99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FA-4EB1-AC27-268D383D9985}"/>
              </c:ext>
            </c:extLst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FA-4EB1-AC27-268D383D998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F4F5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scaling</c:v>
                </c:pt>
                <c:pt idx="1">
                  <c:v>MinMax</c:v>
                </c:pt>
                <c:pt idx="2">
                  <c:v>StandardScaler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99.17</c:v>
                </c:pt>
                <c:pt idx="1">
                  <c:v>99.17</c:v>
                </c:pt>
                <c:pt idx="2">
                  <c:v>97.5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FA-4EB1-AC27-268D383D99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Calibri"/>
              </a:rPr>
              <a:t>Support vectors (of 100 points)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 vectors (of 100 points)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F4F5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C=0.01</c:v>
                </c:pt>
                <c:pt idx="1">
                  <c:v>C=0.1</c:v>
                </c:pt>
                <c:pt idx="2">
                  <c:v>C=1</c:v>
                </c:pt>
                <c:pt idx="3">
                  <c:v>C=100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50</c:v>
                </c:pt>
                <c:pt idx="2">
                  <c:v>24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C4-455C-8B90-7323B4F798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Calibri"/>
              </a:rPr>
              <a:t>Test accuracy (%), linear models C = 10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(%), linear models C = 10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C2-41B0-A805-448A7D4D0D7E}"/>
              </c:ext>
            </c:extLst>
          </c:dPt>
          <c:dPt>
            <c:idx val="1"/>
            <c:invertIfNegative val="0"/>
            <c:bubble3D val="0"/>
            <c:spPr>
              <a:solidFill>
                <a:srgbClr val="1B9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C2-41B0-A805-448A7D4D0D7E}"/>
              </c:ext>
            </c:extLst>
          </c:dPt>
          <c:dPt>
            <c:idx val="2"/>
            <c:invertIfNegative val="0"/>
            <c:bubble3D val="0"/>
            <c:spPr>
              <a:solidFill>
                <a:srgbClr val="1B9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C2-41B0-A805-448A7D4D0D7E}"/>
              </c:ext>
            </c:extLst>
          </c:dPt>
          <c:dPt>
            <c:idx val="3"/>
            <c:invertIfNegative val="0"/>
            <c:bubble3D val="0"/>
            <c:spPr>
              <a:solidFill>
                <a:srgbClr val="0B3C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C2-41B0-A805-448A7D4D0D7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F4F5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Scratch OvR</c:v>
                </c:pt>
                <c:pt idx="1">
                  <c:v>sklearn OvR (linear)</c:v>
                </c:pt>
                <c:pt idx="2">
                  <c:v>sklearn OvO (linear)</c:v>
                </c:pt>
                <c:pt idx="3">
                  <c:v>sklearn OvO (RBF)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95.83</c:v>
                </c:pt>
                <c:pt idx="1">
                  <c:v>95.28</c:v>
                </c:pt>
                <c:pt idx="2">
                  <c:v>97.5</c:v>
                </c:pt>
                <c:pt idx="3">
                  <c:v>99.17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C2-41B0-A805-448A7D4D0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2"/>
        </c:scaling>
        <c:delete val="0"/>
        <c:axPos val="l"/>
        <c:majorGridlines>
          <c:spPr>
            <a:ln w="6350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Calibri"/>
              </a:rPr>
              <a:t>5-fold CV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5-fold CV accuracy (%)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50-41C0-8E39-D41273D981E6}"/>
              </c:ext>
            </c:extLst>
          </c:dPt>
          <c:dPt>
            <c:idx val="1"/>
            <c:invertIfNegative val="0"/>
            <c:bubble3D val="0"/>
            <c:spPr>
              <a:solidFill>
                <a:srgbClr val="1B9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50-41C0-8E39-D41273D981E6}"/>
              </c:ext>
            </c:extLst>
          </c:dPt>
          <c:dPt>
            <c:idx val="2"/>
            <c:invertIfNegative val="0"/>
            <c:bubble3D val="0"/>
            <c:spPr>
              <a:solidFill>
                <a:srgbClr val="1B9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50-41C0-8E39-D41273D981E6}"/>
              </c:ext>
            </c:extLst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50-41C0-8E39-D41273D981E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F4F5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 (RBF)</c:v>
                </c:pt>
                <c:pt idx="1">
                  <c:v>k-NN (k=3)</c:v>
                </c:pt>
                <c:pt idx="2">
                  <c:v>k-NN (k=5)</c:v>
                </c:pt>
                <c:pt idx="3">
                  <c:v>Logistic Reg.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98.82</c:v>
                </c:pt>
                <c:pt idx="1">
                  <c:v>98.75</c:v>
                </c:pt>
                <c:pt idx="2">
                  <c:v>98.68</c:v>
                </c:pt>
                <c:pt idx="3">
                  <c:v>96.38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050-41C0-8E39-D41273D981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Arial"/>
              </a:rPr>
              <a:t>Test accuracy (%) vs noise strength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SVM tuned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99.2</c:v>
                </c:pt>
                <c:pt idx="1">
                  <c:v>78.900000000000006</c:v>
                </c:pt>
                <c:pt idx="2">
                  <c:v>30.2</c:v>
                </c:pt>
                <c:pt idx="3">
                  <c:v>16.7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F6-4A06-AB05-B8330F05B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 + noisy training</c:v>
                </c:pt>
              </c:strCache>
            </c:strRef>
          </c:tx>
          <c:spPr>
            <a:ln w="31750" cap="flat">
              <a:solidFill>
                <a:srgbClr val="0B3C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98.9</c:v>
                </c:pt>
                <c:pt idx="1">
                  <c:v>98.4</c:v>
                </c:pt>
                <c:pt idx="2">
                  <c:v>96.7</c:v>
                </c:pt>
                <c:pt idx="3">
                  <c:v>91.8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F6-4A06-AB05-B8330F05BF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k-NN (k=3)</c:v>
                </c:pt>
              </c:strCache>
            </c:strRef>
          </c:tx>
          <c:spPr>
            <a:ln w="31750" cap="flat">
              <a:solidFill>
                <a:srgbClr val="1B9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9AAA"/>
              </a:solidFill>
              <a:ln w="9525" cap="flat">
                <a:solidFill>
                  <a:srgbClr val="1B9AA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98.6</c:v>
                </c:pt>
                <c:pt idx="1">
                  <c:v>97.9</c:v>
                </c:pt>
                <c:pt idx="2">
                  <c:v>84.4</c:v>
                </c:pt>
                <c:pt idx="3">
                  <c:v>62.7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F6-4A06-AB05-B8330F05BF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Logistic Reg.</c:v>
                </c:pt>
              </c:strCache>
            </c:strRef>
          </c:tx>
          <c:spPr>
            <a:ln w="31750" cap="flat">
              <a:solidFill>
                <a:srgbClr val="8A9A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9A9D"/>
              </a:solidFill>
              <a:ln w="9525" cap="flat">
                <a:solidFill>
                  <a:srgbClr val="8A9A9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95.8</c:v>
                </c:pt>
                <c:pt idx="1">
                  <c:v>95.2</c:v>
                </c:pt>
                <c:pt idx="2">
                  <c:v>90.9</c:v>
                </c:pt>
                <c:pt idx="3">
                  <c:v>81.400000000000006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F6-4A06-AB05-B8330F05B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F4F5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F4F5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15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Naresh introduces the group and topic: SVM applied to handwritten digit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Naresh: outline and who speaks when. Total talk is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task: given an 8x8 grayscale image, predict the digit 0-9. Each pixel is a feature, so 64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real-world applications: digit reading, medical diagnosis, text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are balanced, 174 to 183 images each, so plain accuracy is a fair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Stratified split keeps class balance. Scaling did not help: pixels already share a scale, and StandardScaler inflates near-constant border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lines separate the classes; SVM picks the one with the widest gap. Only the circled support vectors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of a point is |w.x+b|/||w||. Maximising 2/||w|| is the same as minimising half the squared norm, which is convex and smooth.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overlaps, so we allow slack. C is the price of a violation. The hinge loss is the same objective without the constraints and is what we minimise by gradient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Lagrange multipliers give the dual. By KKT, alpha is nonzero only for points on or inside the margin: the support vectors. The data appear only as dot products, which enables kernels.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kernel computes the dot product in a higher-dimensional space without building it. RBF similarity falls with distance; gamma sets the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vectors (1,1) and (3,3) give 6a+b=1 and 2a+b=-1, so a=0.5, b=-2. Margin is 2.83, the distance between the two support vectors. sklearn gives the same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 grows the margin shrinks from 3.23 to 0.22 and support vectors drop from 94 to 12. Training accuracy barely changes, so the extra fit buys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Circles cannot be separated by any line. Lifting with z = x^2+y^2 makes a flat plane separate them. The notebook has the 3D plot, also interactive in Plotly.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Sub-gradient descent on the hinge objective in about 20 lines of NumPy. Only margin violators contribute to the gradient. Compared with sklearn on digits 3 vs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binary models, predict by largest score. Scratch OvR reaches 95.8%, matching sklearn OvR. RBF reaches 99.2%.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on training data only. Best C=1, gamma=0.1 with 98.8% CV and 99.2% test. The default gamma was already near the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model 99.2% test, 3 errors in 360. SVM clearly beats Logistic Regression but only edges kNN, within noise. Most confused pairs from cross-validation: 1/8, 5/9, 8/9, 3/5.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vectors are 46% of the data. The tuned SVM is fragile to noise it never saw; training on noisy copies fixes most of it. PCA: 30 components match all 64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Naresh closes with the three main messages and invites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Handwritten Digits with Margins and Kernels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DS2001 Introduction to Data Science, Fall 2026  |  Assignment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0" cy="566928"/>
          </a:xfrm>
          <a:prstGeom prst="roundRect">
            <a:avLst>
              <a:gd name="adj" fmla="val 19355"/>
            </a:avLst>
          </a:prstGeom>
          <a:solidFill>
            <a:srgbClr val="12525F"/>
          </a:solidFill>
          <a:ln w="6350">
            <a:solidFill>
              <a:srgbClr val="125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 Kumar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25K-2501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4572000" cy="566928"/>
          </a:xfrm>
          <a:prstGeom prst="roundRect">
            <a:avLst>
              <a:gd name="adj" fmla="val 19355"/>
            </a:avLst>
          </a:prstGeom>
          <a:solidFill>
            <a:srgbClr val="12525F"/>
          </a:solidFill>
          <a:ln w="6350">
            <a:solidFill>
              <a:srgbClr val="125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3375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Zaid Khalid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3375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25K-2522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4572000" cy="566928"/>
          </a:xfrm>
          <a:prstGeom prst="roundRect">
            <a:avLst>
              <a:gd name="adj" fmla="val 19355"/>
            </a:avLst>
          </a:prstGeom>
          <a:solidFill>
            <a:srgbClr val="12525F"/>
          </a:solidFill>
          <a:ln w="6350">
            <a:solidFill>
              <a:srgbClr val="125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Razzaque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40233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25K-2535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640080"/>
            <a:ext cx="0" cy="356616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72630" y="640080"/>
            <a:ext cx="0" cy="356616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66330" y="640080"/>
            <a:ext cx="0" cy="356616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14923" y="1110996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55080" y="2002536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8309" y="2894076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1851" y="3429000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38544" y="1467612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29884" y="2180844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11773" y="1004011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38544" y="2715768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85002" y="3714293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96021" y="1289304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55864" y="2180844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82635" y="3072384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29093" y="3607308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0" y="1645920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481060" y="2359152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99171" y="932688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0" y="2787091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25942" y="3856939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74536" y="2651760"/>
            <a:ext cx="256032" cy="256032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74536" y="1403604"/>
            <a:ext cx="256032" cy="256032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08392" y="2723083"/>
            <a:ext cx="256032" cy="256032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08392" y="1581912"/>
            <a:ext cx="256032" cy="256032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Naresh Kumar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669280" cy="594360"/>
          </a:xfrm>
          <a:prstGeom prst="roundRect">
            <a:avLst>
              <a:gd name="adj" fmla="val 1846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097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01368"/>
            <a:ext cx="5669280" cy="594360"/>
          </a:xfrm>
          <a:prstGeom prst="roundRect">
            <a:avLst>
              <a:gd name="adj" fmla="val 1846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892808"/>
            <a:ext cx="411480" cy="41148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436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18013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and math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18013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505456"/>
            <a:ext cx="5669280" cy="594360"/>
          </a:xfrm>
          <a:prstGeom prst="roundRect">
            <a:avLst>
              <a:gd name="adj" fmla="val 1846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" y="2596896"/>
            <a:ext cx="411480" cy="41148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943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5054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250545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/ Razzaque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09544"/>
            <a:ext cx="5669280" cy="594360"/>
          </a:xfrm>
          <a:prstGeom prst="roundRect">
            <a:avLst>
              <a:gd name="adj" fmla="val 1846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300984"/>
            <a:ext cx="411480" cy="41148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9436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2095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and results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32095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Razzaque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913632"/>
            <a:ext cx="5669280" cy="594360"/>
          </a:xfrm>
          <a:prstGeom prst="roundRect">
            <a:avLst>
              <a:gd name="adj" fmla="val 1846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4360" y="4005072"/>
            <a:ext cx="411480" cy="41148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9436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188720" y="3913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conclusion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206240" y="3913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92240" y="109728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6751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169164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(2 features): margin basics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 and circles: kernel trick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Digits: main demo, 1,797 images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Reading Digits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Naresh Kumar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8x8 image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1417320"/>
            <a:ext cx="274320" cy="320040"/>
          </a:xfrm>
          <a:prstGeom prst="rightArrow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06040" y="114300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606040" y="1143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pixel values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274320" cy="320040"/>
          </a:xfrm>
          <a:prstGeom prst="rightArrow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54880" y="1143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1417320"/>
            <a:ext cx="274320" cy="320040"/>
          </a:xfrm>
          <a:prstGeom prst="rightArrow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903720" y="1143000"/>
            <a:ext cx="1783080" cy="868680"/>
          </a:xfrm>
          <a:prstGeom prst="roundRect">
            <a:avLst>
              <a:gd name="adj" fmla="val 1263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903720" y="1143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0 to 9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1,797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090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3090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(pixels, 0 to 16)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3090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(digits 0 to 9)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a rule that separates 10 classes of look-alike shapes, such as 3, 5 and 8, using only pixel values.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SVMs Are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Naresh Kumar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and digits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06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 sorting, bank cheque processing, form digitization. Our demo task.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20440" y="1417320"/>
            <a:ext cx="548640" cy="54864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520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606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tumours as benign or malignant from cell measurements.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26480" y="118872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548640" cy="54864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355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606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filtering and topic labelling, where there are thousands of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Digits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Naresh Kumar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515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62179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perfectly balanced classes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range from 0 to 16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images of 3, 5, 8 look alike, so we expect them to be harder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Choices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Naresh Kumar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5156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303520" y="114300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1691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split: 1,437 train, 360 test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sits inside a Pipeline, so it is fitted on training data only (no leakage)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hurt; we use MinMax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Idea: The Maximum Margin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51760" y="1097280"/>
            <a:ext cx="0" cy="3383280"/>
          </a:xfrm>
          <a:prstGeom prst="line">
            <a:avLst/>
          </a:prstGeom>
          <a:noFill/>
          <a:ln w="317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062886" y="1097280"/>
            <a:ext cx="0" cy="3383280"/>
          </a:xfrm>
          <a:prstGeom prst="line">
            <a:avLst/>
          </a:prstGeom>
          <a:noFill/>
          <a:ln w="12700">
            <a:solidFill>
              <a:srgbClr val="0B3C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40634" y="1097280"/>
            <a:ext cx="0" cy="3383280"/>
          </a:xfrm>
          <a:prstGeom prst="line">
            <a:avLst/>
          </a:prstGeom>
          <a:noFill/>
          <a:ln w="12700">
            <a:solidFill>
              <a:srgbClr val="0B3C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21131" y="1540764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325880" y="2386584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9381" y="3232404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662379" y="3739896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746504" y="1879092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4944" y="2555748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410005" y="1439266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746504" y="3063240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73506" y="4010558"/>
            <a:ext cx="128016" cy="128016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54373" y="1709928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49624" y="2555748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86123" y="3401568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513125" y="3909060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429000" y="2048256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480560" y="2724912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765499" y="1371600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429000" y="3130906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101998" y="4145890"/>
            <a:ext cx="128016" cy="128016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682496" y="2999232"/>
            <a:ext cx="256032" cy="256032"/>
          </a:xfrm>
          <a:prstGeom prst="ellipse">
            <a:avLst/>
          </a:prstGeom>
          <a:ln w="190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682496" y="1815084"/>
            <a:ext cx="256032" cy="256032"/>
          </a:xfrm>
          <a:prstGeom prst="ellipse">
            <a:avLst/>
          </a:prstGeom>
          <a:ln w="190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364992" y="3066898"/>
            <a:ext cx="256032" cy="256032"/>
          </a:xfrm>
          <a:prstGeom prst="ellipse">
            <a:avLst/>
          </a:prstGeom>
          <a:ln w="190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364992" y="1984248"/>
            <a:ext cx="256032" cy="256032"/>
          </a:xfrm>
          <a:prstGeom prst="ellipse">
            <a:avLst/>
          </a:prstGeom>
          <a:ln w="190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120640" y="114300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349240" y="137160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boundary: w·x + b = 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lines: w·x + b = ±1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width = 2 / ‖w‖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Circled points are the support vectors: they alone define the boundary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1: Hard-Margin SVM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½‖w‖²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to  yᵢ (w·xᵢ + b) ≥ 1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|w·xᵢ + b| / ‖w‖ for each point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26060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747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‖w‖, so large margin means small ‖w‖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26060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3093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wide?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room for new points to land on the correct side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2: Soft Margin and Hinge Loss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½‖w‖² + C Σ max(0, 1 − yᵢ f(xᵢ))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w·x + b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margin, few violations. Risk of overfitting.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6060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margin, many violations allowed. Risk of underfitting.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3: Dual Form and Support Vectors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Σ αᵢ yᵢ xᵢ     with  0 ≤ αᵢ ≤ C  and  Σ αᵢ yᵢ = 0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 &gt; 0 only for points on or inside the margin: the support vectors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points have αᵢ = 0 and can be deleted without changing the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 only through dot products xᵢ·xⱼ, so we can replace them with a kernel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needs only the support vectors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4: The Kernel Trick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x′) = φ(x)·φ(x′)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4023360" cy="603504"/>
          </a:xfrm>
          <a:prstGeom prst="roundRect">
            <a:avLst>
              <a:gd name="adj" fmla="val 1818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233172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331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x·x′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33172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boundary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44952"/>
            <a:ext cx="4023360" cy="603504"/>
          </a:xfrm>
          <a:prstGeom prst="roundRect">
            <a:avLst>
              <a:gd name="adj" fmla="val 1818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0080" y="304495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04495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(γ x·x′ + r)ᵈ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04495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curved, degree 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758184"/>
            <a:ext cx="4023360" cy="603504"/>
          </a:xfrm>
          <a:prstGeom prst="roundRect">
            <a:avLst>
              <a:gd name="adj" fmla="val 1818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40080" y="375818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75818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exp(−γ‖x−x′‖²)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75818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flexible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09728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γ does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983480" y="17373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γ: each point reaches only close neighbours, wiggly boundary, overfits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γ: smooth boundary, can underfit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Multiclass: one-vs-rest uses 10 models, one-vs-one uses 45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4 Points by Hand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383280" cy="3383280"/>
          </a:xfrm>
          <a:prstGeom prst="rect">
            <a:avLst/>
          </a:prstGeom>
          <a:solidFill>
            <a:srgbClr val="F7FAFA"/>
          </a:solidFill>
          <a:ln w="12700">
            <a:solidFill>
              <a:srgbClr val="A9D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" y="1722120"/>
            <a:ext cx="2438400" cy="2438400"/>
          </a:xfrm>
          <a:prstGeom prst="line">
            <a:avLst/>
          </a:prstGeom>
          <a:noFill/>
          <a:ln w="317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2941320"/>
            <a:ext cx="1219200" cy="1219200"/>
          </a:xfrm>
          <a:prstGeom prst="line">
            <a:avLst/>
          </a:prstGeom>
          <a:noFill/>
          <a:ln w="12700">
            <a:solidFill>
              <a:srgbClr val="0B3C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783080" y="1417320"/>
            <a:ext cx="1828800" cy="1828800"/>
          </a:xfrm>
          <a:prstGeom prst="line">
            <a:avLst/>
          </a:prstGeom>
          <a:noFill/>
          <a:ln w="12700">
            <a:solidFill>
              <a:srgbClr val="0B3C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6384" y="4078224"/>
            <a:ext cx="164592" cy="164592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95984" y="3468624"/>
            <a:ext cx="164592" cy="164592"/>
          </a:xfrm>
          <a:prstGeom prst="ellipse">
            <a:avLst/>
          </a:prstGeom>
          <a:solidFill>
            <a:srgbClr val="E4572E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15184" y="2249424"/>
            <a:ext cx="164592" cy="164592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24784" y="1639824"/>
            <a:ext cx="164592" cy="164592"/>
          </a:xfrm>
          <a:prstGeom prst="ellipse">
            <a:avLst/>
          </a:prstGeom>
          <a:solidFill>
            <a:srgbClr val="1B9AAA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322832" y="3395472"/>
            <a:ext cx="310896" cy="310896"/>
          </a:xfrm>
          <a:prstGeom prst="ellipse">
            <a:avLst/>
          </a:prstGeom>
          <a:ln w="190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42032" y="2176272"/>
            <a:ext cx="310896" cy="310896"/>
          </a:xfrm>
          <a:prstGeom prst="ellipse">
            <a:avLst/>
          </a:prstGeom>
          <a:ln w="190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06240" y="1097280"/>
            <a:ext cx="4480560" cy="3383280"/>
          </a:xfrm>
          <a:prstGeom prst="roundRect">
            <a:avLst>
              <a:gd name="adj" fmla="val 3243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4348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(3,3), (4,4) = +1     (1,1), (0,0) = −1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6916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vectors: (1,1) and (3,3)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+ b = 1 and 2a + b = −1 give w = (0.5, 0.5), b = −2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2/‖w‖ = 2.83 = distance between the two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Dual: α = 0.25 on each support vector, 0 on the others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output matches exactly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C (Iris, 2 Features)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Abdul Razzaque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5156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303520" y="114300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width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1691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3.23 → 0.22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2313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 = 0.01 to C = 100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2834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stays around 92 to 95%. The soft margin trades fit against simplicity, which is why we tune 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Trick in Action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Abdul Razzaque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→ 100%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circles: linear vs RBF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 → 98%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moons: linear vs RBF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09728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657600" y="1097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circles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74720" y="1755648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3657600" y="1755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separable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474720" y="2414016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657600" y="24140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 z = x² + y²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474720" y="3072384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657600" y="30723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flat plane separates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74720" y="3730752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3657600" y="37307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2D: a circle (r ≈ 0.74)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Own SVM From Scratch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Syed Zaid Khalid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0B3C49"/>
          </a:solidFill>
          <a:ln w="6350">
            <a:solidFill>
              <a:srgbClr val="0B3C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← w − ηₜ ( λw − (1/n) Σ yᵢ xᵢ )   over margin violators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accuracy, digits 3 vs 8 (same as sklearn)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240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our w with sklearn’s w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240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of 285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862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 used by sklearn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 ends at 0.0053 vs sklearn’s exact 0.0039: sub-gradient descent converges slowly, but predictions agree on every test image.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Multiclass: One-vs-Rest From Scratch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Abdul Razzaque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515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143000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6035040" y="132588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OvR: 10 models, argmax of scores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OvO: 45 models, majority vote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RBF boundary beats any set of straight 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C and γ with 5-Fold CV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Abdul Razzaque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\ 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6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6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B6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F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F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BF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3C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6035040" y="1325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C=1, γ=0.1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setting: 98.8% CV, 99.2% test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26060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corner: underfit (15.7%). High γ: overfit. Small C with large γ collapses to 53.7%.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Baselines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Abdul Razzaque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5156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303520" y="114300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accuracy, macro F1 = 0.992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24688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errors in 360. Cross-validated, the top confusions are 1/8 (5), 5/9 (4), 8/9 (3) and 3/5 (2), but the counts are small.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and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F53"/>
                </a:solidFill>
              </a:rPr>
              <a:t>Presenter: Naresh Kumar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5156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1143000"/>
            <a:ext cx="3108960" cy="3383280"/>
          </a:xfrm>
          <a:prstGeom prst="roundRect">
            <a:avLst>
              <a:gd name="adj" fmla="val 3529"/>
            </a:avLst>
          </a:prstGeom>
          <a:solidFill>
            <a:srgbClr val="E3F2F3"/>
          </a:solidFill>
          <a:ln w="6350">
            <a:solidFill>
              <a:srgbClr val="E3F2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760720" y="132588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training images are support vectors: the atypical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breaks the tuned RBF model unless it is trained for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careful C, γ tuning; no probabilities by default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2D image structure; CNNs do better on large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4F5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2525F"/>
          </a:solidFill>
          <a:ln w="6350">
            <a:solidFill>
              <a:srgbClr val="125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with a tuned RBF SVM on digits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2525F"/>
          </a:solidFill>
          <a:ln w="6350">
            <a:solidFill>
              <a:srgbClr val="125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curved boundaries without computing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2525F"/>
          </a:solidFill>
          <a:ln w="6350">
            <a:solidFill>
              <a:srgbClr val="1252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1792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CV, error bars and noise tests, not one accuracy number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noise-augmented training, class weights, support vector regression.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Naresh Kumar 25K-2501  |  Syed Zaid Khalid 25K-2522  |  Abdul Razzaque 25K-2535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1833</Words>
  <Application>Microsoft Office PowerPoint</Application>
  <PresentationFormat>On-screen Show (16:9)</PresentationFormat>
  <Paragraphs>267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 on Handwritten Digits</dc:title>
  <dc:subject>PptxGenJS Presentation</dc:subject>
  <dc:creator>Naresh Kumar, Syed Zaid Khalid, Abdul Razzaque</dc:creator>
  <cp:lastModifiedBy>Naresh Kumar</cp:lastModifiedBy>
  <cp:revision>2</cp:revision>
  <dcterms:created xsi:type="dcterms:W3CDTF">2026-10-09T00:01:27Z</dcterms:created>
  <dcterms:modified xsi:type="dcterms:W3CDTF">2026-10-09T01:26:59Z</dcterms:modified>
</cp:coreProperties>
</file>